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83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96" r:id="rId11"/>
    <p:sldId id="284" r:id="rId12"/>
    <p:sldId id="300" r:id="rId13"/>
    <p:sldId id="302" r:id="rId14"/>
    <p:sldId id="303" r:id="rId15"/>
    <p:sldId id="297" r:id="rId16"/>
    <p:sldId id="281" r:id="rId17"/>
    <p:sldId id="295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-2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3725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built a system that takes a noisy MRI, cleans it, and finds the region a doctor cares about — and every claim we make is measured, not asserted.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isn't generic image noise. MRI has two specific, well-understood defects, and we correct for those two specifically.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completed all four, for both brain and spine.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Skip connections are the key — they carry fine detail straight from the encoder to the decoder, so the output isn't blurred. In medicine the fine boundary IS the diagnosis.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heterogeneity is exactly why Stage 2 resamples everything to a common grid — you cannot feed mixed resolutions to one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decides our loss function. A model trained only with cross-entropy scores 99% by predicting 'background' everywhere and finding nothing. That's why we add Dice loss, which measures region overlap.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the striking part — every classical method scores below the noisy input. They boost contrast but amplify the noise. Ours actually removes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Ours is the only stage in the entire pipeline that reduces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Middle is our AI, right is the radiologist. They're nearly identical — and this is a patient the model has never seen.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Enhancing tumour — the active, growing part, the part that matters most clinically — is our strongest class at 0.84.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rules forbid annotations for spine. So we trained an autoencoder on healthy spines only. It rebuilds a healthy-looking version of any scan — and whatever it gets wrong is exactly where the abnormality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rules forbid annotations for spine. So we trained an autoencoder on healthy spines only. It rebuilds a healthy-looking version of any scan — and whatever it gets wrong is exactly where the abnormality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rules forbid annotations for spine. So we trained an autoencoder on healthy spines only. It rebuilds a healthy-looking version of any scan — and whatever it gets wrong is exactly where the abnormality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rules forbid annotations for spine. So we trained an autoencoder on healthy spines only. It rebuilds a healthy-looking version of any scan — and whatever it gets wrong is exactly where the abnormality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T1, T2 and STIR are physically different images. We proved that treating them separately wins on all three — measured on identical test slices, so it's a fair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±0.04 spread across folds is the important number — it means the result is consistent, not a lucky split.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We'd rather report a smaller honest number than a large invented one. Every figure in this deck comes from a script in the repository, and can be re-run.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C:\Users\DELL\Downloads\handoff\handoff\images\tumor_vs_gt.png"/>
          <p:cNvPicPr>
            <a:picLocks noChangeAspect="1"/>
          </p:cNvPicPr>
          <p:nvPr/>
        </p:nvPicPr>
        <p:blipFill>
          <a:blip r:embed="rId3">
            <a:alphaModFix amt="70000"/>
          </a:blip>
          <a:srcRect/>
          <a:stretch/>
        </p:blipFill>
        <p:spPr>
          <a:xfrm>
            <a:off x="6096000" y="508000"/>
            <a:ext cx="6096000" cy="58365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5000" y="1097280"/>
            <a:ext cx="5461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7FB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MEDHA DRISHTI · NATIONAL AI HACKATHON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35000" y="1554480"/>
            <a:ext cx="5080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MRI Enhancement &amp;</a:t>
            </a:r>
            <a:endParaRPr lang="en-US" sz="4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ROI Segmentation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635000" y="3657600"/>
            <a:ext cx="482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Restoring degraded MRI scans and delineating the region of interest — every claim measured, not asserted.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35000" y="4846320"/>
            <a:ext cx="3048000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35000" y="5029200"/>
            <a:ext cx="482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Yugma TechFest 2.0  ·  JNNCE Shivamogga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35000" y="5394960"/>
            <a:ext cx="482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Final Evaluation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45144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MRI scans trade quality for speed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554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Grainy images, uneven brightness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9202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acquisition means noisier, less uniform scans.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01752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0292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971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 boundaries hide the diagnosis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33375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rim of a tumour, the margin of a compressed disc — that is what noise erases.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443484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0292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43891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specific defects, not generic noise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47548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Rician noise (the grain) and a smooth bias field (uneven RF-coil lighting) — we correct for both.</a:t>
            </a:r>
            <a:endParaRPr lang="en-US" sz="1500" dirty="0"/>
          </a:p>
        </p:txBody>
      </p:sp>
      <p:pic>
        <p:nvPicPr>
          <p:cNvPr id="16" name="Image 0" descr="C:\Users\DELL\Downloads\handoff\handoff\images\enhancement_compare_brai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75120" y="1554480"/>
            <a:ext cx="5029200" cy="42062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675120" y="5806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Degraded input vs. restored output — the grain and bias field are visible directly.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Enhancement &amp; ROI Segmentation  ·  MedhaDrishti · Yugma TechFest 2.0 · JNNCE Shivamogga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1185855" y="65379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540407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stages, as set by the 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743200" cy="2194560"/>
          </a:xfrm>
          <a:prstGeom prst="roundRect">
            <a:avLst>
              <a:gd name="adj" fmla="val 3333"/>
            </a:avLst>
          </a:prstGeom>
          <a:solidFill>
            <a:srgbClr val="E8F1F2"/>
          </a:solidFill>
          <a:ln w="12700">
            <a:solidFill>
              <a:srgbClr val="D6DE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image properties, resolution, sub-modality division.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64992" y="1554480"/>
            <a:ext cx="2743200" cy="2194560"/>
          </a:xfrm>
          <a:prstGeom prst="roundRect">
            <a:avLst>
              <a:gd name="adj" fmla="val 3333"/>
            </a:avLst>
          </a:prstGeom>
          <a:solidFill>
            <a:srgbClr val="E8F1F2"/>
          </a:solidFill>
          <a:ln w="12700">
            <a:solidFill>
              <a:srgbClr val="D6DE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547872" y="16916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47872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547872" y="27889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Normalise, resample, classical enhancement — then re-measure.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72784" y="1554480"/>
            <a:ext cx="2743200" cy="2194560"/>
          </a:xfrm>
          <a:prstGeom prst="roundRect">
            <a:avLst>
              <a:gd name="adj" fmla="val 3333"/>
            </a:avLst>
          </a:prstGeom>
          <a:solidFill>
            <a:srgbClr val="E8F1F2"/>
          </a:solidFill>
          <a:ln w="12700">
            <a:solidFill>
              <a:srgbClr val="D6DE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55664" y="16916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455664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Enhance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55664" y="27889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Deep-learning model that restores degraded scans.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80576" y="1554480"/>
            <a:ext cx="2743200" cy="2194560"/>
          </a:xfrm>
          <a:prstGeom prst="roundRect">
            <a:avLst>
              <a:gd name="adj" fmla="val 3333"/>
            </a:avLst>
          </a:prstGeom>
          <a:solidFill>
            <a:srgbClr val="E8F1F2"/>
          </a:solidFill>
          <a:ln w="12700">
            <a:solidFill>
              <a:srgbClr val="D6DE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363456" y="16916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363456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363456" y="27889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tumour / tissue / spine region of interest.</a:t>
            </a:r>
            <a:endParaRPr lang="en-US" sz="1400" dirty="0"/>
          </a:p>
        </p:txBody>
      </p:sp>
      <p:pic>
        <p:nvPicPr>
          <p:cNvPr id="20" name="Image 0" descr="C:\Users\DELL\Downloads\handoff\handoff\images\pipeline_diagra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1600" y="3977640"/>
            <a:ext cx="9418320" cy="23774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Enhancement &amp; ROI Segmentation  ·  MedhaDrishti · Yugma TechFest 2.0 · JNNCE Shivamogga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1185855" y="65379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814178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U-Net backbone, two heads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55648"/>
            <a:ext cx="109728" cy="320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85800" y="1645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Encoder → bottleneck → decoder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skip connections that carry fine detail across the bottleneck.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807208"/>
            <a:ext cx="109728" cy="320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85800" y="2697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Restoration head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0632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channel in → 1 channel out.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109728" cy="320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85800" y="3749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Segmentation head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41148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channels in (T1, T1c, T2, FLAIR) → 4 class channels out.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910328"/>
            <a:ext cx="109728" cy="320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85800" y="4800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Compact footprint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51663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7.77 M parameters · 31 MB · runs on a 6 GB laptop GPU.</a:t>
            </a:r>
            <a:endParaRPr lang="en-US" sz="1400" dirty="0"/>
          </a:p>
        </p:txBody>
      </p:sp>
      <p:pic>
        <p:nvPicPr>
          <p:cNvPr id="16" name="Image 0" descr="C:\Users\DELL\Downloads\handoff\handoff\images\pipeline_diagra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26480" y="1737360"/>
            <a:ext cx="5669280" cy="365760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6126480" y="5532120"/>
            <a:ext cx="5669280" cy="6858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6217920" y="55321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connections carry fine detail so output isn't blurred — in medicine the fine boundary IS the diagnosis.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Enhancement &amp; ROI Segmentation  ·  MedhaDrishti · Yugma TechFest 2.0 · JNNCE Shivamogga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1185855" y="65379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398653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DATASET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measured every scan before touching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1206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6DE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926080" y="1691640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properties measured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· complexity · sharpness · edge · noise · mean · deviation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063240"/>
            <a:ext cx="51206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6DE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315468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127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926080" y="3154680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BraTS2020 cases used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240×240×155 at 1 mm isotropic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526280"/>
            <a:ext cx="51206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6DE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" y="461772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0.25–1.3 mm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2926080" y="4617720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voxel spacing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heterogeneous — slice thickness 3–13 mm</a:t>
            </a:r>
            <a:endParaRPr lang="en-US" sz="1300" dirty="0"/>
          </a:p>
        </p:txBody>
      </p:sp>
      <p:pic>
        <p:nvPicPr>
          <p:cNvPr id="13" name="Image 0" descr="C:\Users\DELL\Downloads\handoff\handoff\images\dataset_properti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0" y="1600200"/>
            <a:ext cx="5852160" cy="41148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943600" y="57607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Spine scans carry roughly 2× the complexity of brain scans.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Enhancement &amp; ROI Segmentation  ·  MedhaDrishti · Yugma TechFest 2.0 · JNNCE Shivamogga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185855" y="65379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96523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ANNOTATIONS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BraTS has expert labels — and they're extremely imbalanced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457200" y="1737360"/>
          <a:ext cx="5303520" cy="25146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pixels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Background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99.03 %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Edema (swelling)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Enhancing tumour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Necrotic core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617720"/>
            <a:ext cx="5303520" cy="1554480"/>
          </a:xfrm>
          <a:prstGeom prst="roundRect">
            <a:avLst>
              <a:gd name="adj" fmla="val 4706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40080" y="47091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300" dirty="0"/>
          </a:p>
        </p:txBody>
      </p:sp>
      <p:sp>
        <p:nvSpPr>
          <p:cNvPr id="4" name="Text 4"/>
          <p:cNvSpPr/>
          <p:nvPr/>
        </p:nvSpPr>
        <p:spPr>
          <a:xfrm>
            <a:off x="640080" y="502920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trained only with cross-entropy scores 99% by predicting 'background' everywhere and finding nothing. We add Dice loss, which measures region overlap.</a:t>
            </a:r>
            <a:endParaRPr lang="en-US" sz="1400" dirty="0"/>
          </a:p>
        </p:txBody>
      </p:sp>
      <p:pic>
        <p:nvPicPr>
          <p:cNvPr id="8" name="Image 0" descr="C:\Users\DELL\Downloads\handoff\handoff\images\annotation_label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26480" y="1737360"/>
            <a:ext cx="5669280" cy="43891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Enhancement &amp; ROI Segmentation  ·  MedhaDrishti · Yugma TechFest 2.0 · JNNCE Shivamogga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1185855" y="65379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523207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· ENHANCEMENT RESULT  ·  REQUIRED SNAPSHOT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Dirty scan in → clean scan out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457200" y="1737360"/>
          <a:ext cx="5120640" cy="22860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PSNR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SSIM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Degraded input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CLAHE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 (U-Net)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27.08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091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panels left → right:  clean · degraded · CLAHE · Ours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5120640"/>
            <a:ext cx="5120640" cy="1051560"/>
          </a:xfrm>
          <a:prstGeom prst="roundRect">
            <a:avLst>
              <a:gd name="adj" fmla="val 5217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40080" y="512064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classical method scores below the noisy input. Ours actually removes noise.</a:t>
            </a:r>
            <a:endParaRPr lang="en-US" sz="1500" dirty="0"/>
          </a:p>
        </p:txBody>
      </p:sp>
      <p:pic>
        <p:nvPicPr>
          <p:cNvPr id="4" name="Image 0" descr="C:\Users\DELL\Downloads\handoff\handoff\images\cmp_method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52160" y="1691640"/>
            <a:ext cx="5943600" cy="44805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Enhancement &amp; ROI Segmentation  ·  MedhaDrishti · Yugma TechFest 2.0 · JNNCE Shivamogga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1185855" y="65379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340333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CLASSICAL METHODS FAIL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amplify what they cannot remove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noise level after each step  ·  brain pathological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5760720" cy="777240"/>
          </a:xfrm>
          <a:prstGeom prst="roundRect">
            <a:avLst>
              <a:gd name="adj" fmla="val 7059"/>
            </a:avLst>
          </a:prstGeom>
          <a:solidFill>
            <a:srgbClr val="E8F1F2"/>
          </a:solidFill>
          <a:ln w="12700">
            <a:solidFill>
              <a:srgbClr val="D6DE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9659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Preprocessed baseline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520440" y="196596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0.0068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57800" y="196596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5760720" cy="777240"/>
          </a:xfrm>
          <a:prstGeom prst="roundRect">
            <a:avLst>
              <a:gd name="adj" fmla="val 7059"/>
            </a:avLst>
          </a:prstGeom>
          <a:solidFill>
            <a:srgbClr val="E8F1F2"/>
          </a:solidFill>
          <a:ln w="12700">
            <a:solidFill>
              <a:srgbClr val="D6DE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85800" y="28346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20440" y="28346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0.0138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257800" y="283464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57200" y="3703320"/>
            <a:ext cx="5760720" cy="777240"/>
          </a:xfrm>
          <a:prstGeom prst="roundRect">
            <a:avLst>
              <a:gd name="adj" fmla="val 7059"/>
            </a:avLst>
          </a:prstGeom>
          <a:solidFill>
            <a:srgbClr val="E8F1F2"/>
          </a:solidFill>
          <a:ln w="12700">
            <a:solidFill>
              <a:srgbClr val="D6DE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85800" y="37033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20440" y="37033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0.0106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257800" y="370332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57200" y="4572000"/>
            <a:ext cx="5760720" cy="777240"/>
          </a:xfrm>
          <a:prstGeom prst="roundRect">
            <a:avLst>
              <a:gd name="adj" fmla="val 7059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85800" y="45720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(U-Net)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20440" y="45720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0.0043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257800" y="457200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457200" y="5532120"/>
            <a:ext cx="5760720" cy="640080"/>
          </a:xfrm>
          <a:prstGeom prst="roundRect">
            <a:avLst>
              <a:gd name="adj" fmla="val 8571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40080" y="553212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is the only stage in the pipeline that reduces noise.</a:t>
            </a:r>
            <a:endParaRPr lang="en-US" sz="1500" dirty="0"/>
          </a:p>
        </p:txBody>
      </p:sp>
      <p:pic>
        <p:nvPicPr>
          <p:cNvPr id="23" name="Image 0" descr="C:\Users\DELL\Downloads\handoff\handoff\images\cmp_nois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83680" y="1691640"/>
            <a:ext cx="5257800" cy="448056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Enhancement &amp; ROI Segmentation  ·  MedhaDrishti · Yugma TechFest 2.0 · JNNCE Shivamogga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1185855" y="65379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818319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· SEGMENTATION RESULT  ·  REQUIRED SNAPSHOT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tumour outline vs. the radiologist's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0.76</a:t>
            </a:r>
            <a:endParaRPr lang="en-US" sz="8800" dirty="0"/>
          </a:p>
        </p:txBody>
      </p:sp>
      <p:sp>
        <p:nvSpPr>
          <p:cNvPr id="6" name="Text 4"/>
          <p:cNvSpPr/>
          <p:nvPr/>
        </p:nvSpPr>
        <p:spPr>
          <a:xfrm>
            <a:off x="3108960" y="19659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 tumour Dice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108960" y="2468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Enhancing tumour: 0.84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08960" y="28803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9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on patients the model has never seen.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931920"/>
            <a:ext cx="5303520" cy="2194560"/>
          </a:xfrm>
          <a:prstGeom prst="roundRect">
            <a:avLst>
              <a:gd name="adj" fmla="val 3333"/>
            </a:avLst>
          </a:prstGeom>
          <a:solidFill>
            <a:srgbClr val="E8F1F2"/>
          </a:solidFill>
          <a:ln w="12700">
            <a:solidFill>
              <a:srgbClr val="D6DE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85800" y="4023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evaluation suite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43891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· Jaccard · Accuracy · Sensitivity · Specificity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· F1 · Hausdorff · ASD · Relative Volume Error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53949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converged at epoch 25 · overfitting gap ≈ 0 · 3-fold CV 0.59 ± 0.04</a:t>
            </a:r>
            <a:endParaRPr lang="en-US" sz="1300" dirty="0"/>
          </a:p>
        </p:txBody>
      </p:sp>
      <p:pic>
        <p:nvPicPr>
          <p:cNvPr id="13" name="Image 0" descr="C:\Users\DELL\Downloads\handoff\handoff\images\tumor_vs_g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0" y="1691640"/>
            <a:ext cx="5852160" cy="44348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Enhancement &amp; ROI Segmentation  ·  MedhaDrishti · Yugma TechFest 2.0 · JNNCE Shivamogga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185855" y="65379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120883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SEGMENTATION, IN DETAIL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Per-class performance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metrics</a:t>
            </a:r>
            <a:endParaRPr lang="en-US" sz="1400" dirty="0"/>
          </a:p>
        </p:txBody>
      </p:sp>
      <p:pic>
        <p:nvPicPr>
          <p:cNvPr id="5" name="Image 0" descr="C:\Users\DELL\Downloads\handoff\handoff\images\cmp_segmenta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828800"/>
            <a:ext cx="5669280" cy="3383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0936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— bright diagonal = classes rarely confused</a:t>
            </a:r>
            <a:endParaRPr lang="en-US" sz="1400" dirty="0"/>
          </a:p>
        </p:txBody>
      </p:sp>
      <p:pic>
        <p:nvPicPr>
          <p:cNvPr id="7" name="Image 1" descr="C:\Users\DELL\Downloads\handoff\handoff\images\seg_confusion_matrix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09360" y="1828800"/>
            <a:ext cx="5486400" cy="33832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5394960"/>
            <a:ext cx="11338560" cy="777240"/>
          </a:xfrm>
          <a:prstGeom prst="roundRect">
            <a:avLst>
              <a:gd name="adj" fmla="val 7059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640080" y="53949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Enhancing tumour — the active, growing part, the part that matters most clinically — is our strongest class at 0.84 Dice.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Enhancement &amp; ROI Segmentation  ·  MedhaDrishti · Yugma TechFest 2.0 · JNNCE Shivamogga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1185855" y="65379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124462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SPINE · NO ANNOTATIONS ALLOWED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working methods, zero labels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457200" y="1691640"/>
          <a:ext cx="5852160" cy="20116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Labels used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Enhancement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Self-supervised restoration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 segmentation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Self-supervised CNN (differentiable feature clustering)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Canal measurement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Geometric — canal width profile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06240"/>
            <a:ext cx="5852160" cy="1920240"/>
          </a:xfrm>
          <a:prstGeom prst="roundRect">
            <a:avLst>
              <a:gd name="adj" fmla="val 381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40080" y="4297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4617720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restoration model trains against a degraded copy of the scan itself. For segmentation, a small network is optimised on each scan — the image's own structure is its supervision, so the cord, vertebral chain and soft tissue resolve as coherent regions instead of brightness blobs.</a:t>
            </a:r>
            <a:endParaRPr lang="en-US" sz="1300" dirty="0"/>
          </a:p>
        </p:txBody>
      </p:sp>
      <p:pic>
        <p:nvPicPr>
          <p:cNvPr id="8" name="Image 0" descr="C:\Users\DELL\Downloads\handoff\handoff\images\spine_anomal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92240" y="1691640"/>
            <a:ext cx="5303520" cy="44348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Enhancement &amp; ROI Segmentation  ·  MedhaDrishti · Yugma TechFest 2.0 · JNNCE Shivamogga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185855" y="65379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518893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SPINE · THE EXPERIMENT THAT DIDN'T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tried autoencoder anomaly detection. We tested it. It failed.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457200" y="1691640"/>
          <a:ext cx="5854700" cy="20320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spines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Pathological spines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difference score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0.017</a:t>
                      </a:r>
                      <a:endParaRPr lang="en-US" sz="1400" b="0" dirty="0">
                        <a:solidFill>
                          <a:srgbClr val="0B2545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0.014 – 0.031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0.010 – 0.023</a:t>
                      </a:r>
                      <a:endParaRPr lang="en-US" sz="1400" b="0" dirty="0">
                        <a:solidFill>
                          <a:srgbClr val="0B2545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(normal vs pathological)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worse than chance</a:t>
                      </a:r>
                      <a:endParaRPr lang="en-US" sz="1400" b="0" dirty="0">
                        <a:solidFill>
                          <a:srgbClr val="0B2545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89700" y="1689100"/>
            <a:ext cx="5308600" cy="2070100"/>
          </a:xfrm>
          <a:prstGeom prst="roundRect">
            <a:avLst>
              <a:gd name="adj" fmla="val 381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692900" y="1841500"/>
            <a:ext cx="490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Validated, not assumed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692900" y="2184400"/>
            <a:ext cx="4902200" cy="1498600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0" indent="0">
              <a:buNone/>
            </a:pPr>
            <a:r>
              <a:rPr lang="en-US" sz="1400" i="1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 autoencoder on healthy spines only; whatever it cannot reconstruct should be pathology.</a:t>
            </a:r>
            <a:endParaRPr lang="en-US" sz="1400" dirty="0"/>
          </a:p>
          <a:p>
            <a:pPr marL="0" indent="0">
              <a:spcBef>
                <a:spcPts val="1400"/>
              </a:spcBef>
              <a:buNone/>
            </a:pPr>
            <a:r>
              <a:rPr lang="en-US" sz="1400" i="1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0.27 — worse than a coin flip: normal scans score higher than diseased ones.</a:t>
            </a:r>
            <a:endParaRPr lang="en-US" sz="1400" dirty="0"/>
          </a:p>
          <a:p>
            <a:pPr marL="0" indent="0">
              <a:spcBef>
                <a:spcPts val="1400"/>
              </a:spcBef>
              <a:buNone/>
            </a:pPr>
            <a:r>
              <a:rPr lang="en-US" sz="1400" i="1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withdrew the claim — the map is a visualisation only.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Enhancement &amp; ROI Segmentation  ·  MedhaDrishti · Yugma TechFest 2.0 · JNNCE Shivamogga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185855" y="65379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8C9774-BE88-AE7D-530D-7AAEBF626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6800" y="3886200"/>
            <a:ext cx="7518400" cy="254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9552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SPINE · PER-VERTEBRA SEGMENTATION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output the brief asks for is supervised by nature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457200" y="1691640"/>
          <a:ext cx="5854700" cy="2479040"/>
        </p:xfrm>
        <a:graphic>
          <a:graphicData uri="http://schemas.openxmlformats.org/drawingml/2006/table">
            <a:tbl>
              <a:tblPr/>
              <a:tblGrid>
                <a:gridCol w="215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5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Annotation-free method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 outcome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 / SLIC clustering</a:t>
                      </a:r>
                      <a:endParaRPr lang="en-US" sz="1400" dirty="0">
                        <a:solidFill>
                          <a:srgbClr val="0B2545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Groups brightness — cannot separate adjacent vertebrae</a:t>
                      </a:r>
                      <a:endParaRPr lang="en-US" sz="1400" dirty="0">
                        <a:solidFill>
                          <a:srgbClr val="0B2545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Self-supervised CNN (ours)</a:t>
                      </a:r>
                      <a:endParaRPr lang="en-US" sz="1400" dirty="0">
                        <a:solidFill>
                          <a:srgbClr val="0B2545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Resolves structure well, but semantic regions, not instances</a:t>
                      </a:r>
                      <a:endParaRPr lang="en-US" sz="1400" dirty="0">
                        <a:solidFill>
                          <a:srgbClr val="0B2545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Autoencoder anomaly detection</a:t>
                      </a:r>
                      <a:endParaRPr lang="en-US" sz="1400" dirty="0">
                        <a:solidFill>
                          <a:srgbClr val="0B2545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Validated and failed — AUC 0.27, withdrawn</a:t>
                      </a:r>
                      <a:endParaRPr lang="en-US" sz="1400" dirty="0">
                        <a:solidFill>
                          <a:srgbClr val="0B2545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Periodicity vertebra detection</a:t>
                      </a:r>
                      <a:endParaRPr lang="en-US" sz="1400" dirty="0">
                        <a:solidFill>
                          <a:srgbClr val="0B2545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Canal reliable (91/92); vertebra step failed — not shipped</a:t>
                      </a:r>
                      <a:endParaRPr lang="en-US" sz="1400" dirty="0">
                        <a:solidFill>
                          <a:srgbClr val="0B2545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2186392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89700" y="1689100"/>
            <a:ext cx="5308600" cy="2489200"/>
          </a:xfrm>
          <a:prstGeom prst="roundRect">
            <a:avLst>
              <a:gd name="adj" fmla="val 381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692900" y="1841500"/>
            <a:ext cx="490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SPINEPS, for one output only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692900" y="2184400"/>
            <a:ext cx="4902200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0" indent="0">
              <a:buNone/>
            </a:pPr>
            <a:r>
              <a:rPr lang="en-US" sz="1400" i="1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a degenerative disc, herniation or stenosis needs labelled examples — we have 20 spine cases and zero annotations.</a:t>
            </a:r>
            <a:endParaRPr lang="en-US" sz="1400" dirty="0"/>
          </a:p>
          <a:p>
            <a:pPr marL="0" indent="0">
              <a:spcBef>
                <a:spcPts val="1400"/>
              </a:spcBef>
              <a:buNone/>
            </a:pPr>
            <a:r>
              <a:rPr lang="en-US" sz="1400" i="1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So, with the organisers' approval, we use SPINEPS (European Radiology 2025, Apache-2.0) for per-vertebra instances only: Dice 0.92, validated on 1,600+ subjects.</a:t>
            </a:r>
            <a:endParaRPr lang="en-US" sz="1400" dirty="0"/>
          </a:p>
          <a:p>
            <a:pPr marL="0" indent="0">
              <a:spcBef>
                <a:spcPts val="1400"/>
              </a:spcBef>
              <a:buNone/>
            </a:pPr>
            <a:r>
              <a:rPr lang="en-US" sz="1400" i="1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supply no annotations, do not train it, and claim none of its accuracy.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Enhancement &amp; ROI Segmentation  ·  MedhaDrishti · Yugma TechFest 2.0 · JNNCE Shivamogga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185855" y="65379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538A50-7544-117D-8979-75AB96E9DE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0" y="4279900"/>
            <a:ext cx="9398000" cy="210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4915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SPINE · WE MEASURED THE GAP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scored our own work against the pretrained model — Dice vs SPINEPS reference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8913222"/>
              </p:ext>
            </p:extLst>
          </p:nvPr>
        </p:nvGraphicFramePr>
        <p:xfrm>
          <a:off x="457200" y="1689100"/>
          <a:ext cx="7366000" cy="2032000"/>
        </p:xfrm>
        <a:graphic>
          <a:graphicData uri="http://schemas.openxmlformats.org/drawingml/2006/table">
            <a:tbl>
              <a:tblPr/>
              <a:tblGrid>
                <a:gridCol w="218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28057912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833408567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 (self-sup. CNN)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Vertebral bodies</a:t>
                      </a:r>
                      <a:endParaRPr lang="en-US" sz="1400" dirty="0">
                        <a:solidFill>
                          <a:srgbClr val="0B2545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0.263</a:t>
                      </a:r>
                      <a:endParaRPr lang="en-US" sz="1400" dirty="0">
                        <a:solidFill>
                          <a:srgbClr val="0B2545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0.204</a:t>
                      </a:r>
                      <a:endParaRPr lang="en-US" sz="1400" dirty="0">
                        <a:solidFill>
                          <a:srgbClr val="0B2545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0.257 ± 0.018</a:t>
                      </a:r>
                      <a:endParaRPr lang="en-US" sz="1400" dirty="0">
                        <a:solidFill>
                          <a:srgbClr val="0B2545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Intervertebral discs</a:t>
                      </a:r>
                      <a:endParaRPr lang="en-US" sz="1400" dirty="0">
                        <a:solidFill>
                          <a:srgbClr val="0B2545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0.047</a:t>
                      </a:r>
                      <a:endParaRPr lang="en-US" sz="1400" dirty="0">
                        <a:solidFill>
                          <a:srgbClr val="0B2545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0.047</a:t>
                      </a:r>
                      <a:endParaRPr lang="en-US" sz="1400" dirty="0">
                        <a:solidFill>
                          <a:srgbClr val="0B2545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0.090 ± 0.017</a:t>
                      </a:r>
                      <a:endParaRPr lang="en-US" sz="1400" dirty="0">
                        <a:solidFill>
                          <a:srgbClr val="0B2545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Spinal canal + cord</a:t>
                      </a:r>
                      <a:endParaRPr lang="en-US" sz="1400" dirty="0">
                        <a:solidFill>
                          <a:srgbClr val="0B2545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0.304</a:t>
                      </a:r>
                      <a:endParaRPr lang="en-US" sz="1400" dirty="0">
                        <a:solidFill>
                          <a:srgbClr val="0B2545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0.302</a:t>
                      </a:r>
                      <a:endParaRPr lang="en-US" sz="1400" dirty="0">
                        <a:solidFill>
                          <a:srgbClr val="0B2545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0.380 ± 0.041</a:t>
                      </a:r>
                      <a:endParaRPr lang="en-US" sz="1400" dirty="0">
                        <a:solidFill>
                          <a:srgbClr val="0B2545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Posterior elements</a:t>
                      </a:r>
                      <a:endParaRPr lang="en-US" sz="1400" dirty="0">
                        <a:solidFill>
                          <a:srgbClr val="0B2545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0.071</a:t>
                      </a:r>
                      <a:endParaRPr lang="en-US" sz="1400" dirty="0">
                        <a:solidFill>
                          <a:srgbClr val="0B2545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0.097</a:t>
                      </a:r>
                      <a:endParaRPr lang="en-US" sz="1400" dirty="0">
                        <a:solidFill>
                          <a:srgbClr val="0B2545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0.169 ± 0.032</a:t>
                      </a:r>
                      <a:endParaRPr lang="en-US" sz="1400" dirty="0">
                        <a:solidFill>
                          <a:srgbClr val="0B2545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2186392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026400" y="1689100"/>
            <a:ext cx="3771900" cy="2159000"/>
          </a:xfrm>
          <a:prstGeom prst="roundRect">
            <a:avLst>
              <a:gd name="adj" fmla="val 381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8255000" y="1841500"/>
            <a:ext cx="3149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of the label-free methods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55000" y="2184400"/>
            <a:ext cx="3149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0" indent="0">
              <a:buNone/>
            </a:pPr>
            <a:r>
              <a:rPr lang="en-US" sz="1400" i="1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wins on precision in all four structures — 0.31 vs 0.19 on the canal, 0.12 vs 0.04 on posterior elements.</a:t>
            </a:r>
            <a:endParaRPr lang="en-US" sz="1400" dirty="0"/>
          </a:p>
          <a:p>
            <a:pPr marL="0" indent="0">
              <a:spcBef>
                <a:spcPts val="1000"/>
              </a:spcBef>
              <a:buNone/>
            </a:pPr>
            <a:r>
              <a:rPr lang="en-US" sz="1400" i="1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gap, plainly: our best is Dice 0.38 against SPINEPS's published 0.92, and ours numbers zero vertebrae.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Enhancement &amp; ROI Segmentation  ·  MedhaDrishti · Yugma TechFest 2.0 · JNNCE Shivamogga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185855" y="65379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B40CC5-3332-0F76-0D5E-ACE1497A1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848100"/>
            <a:ext cx="7874000" cy="2480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7851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SPINE SEQUENCES · FAIR COMPARISON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model per sequence beats one model for all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457200" y="1737360"/>
          <a:ext cx="6583680" cy="21945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Pooled model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Per-sequence (ours)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+0.229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+0.208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+0.174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709160"/>
            <a:ext cx="6583680" cy="1463040"/>
          </a:xfrm>
          <a:prstGeom prst="roundRect">
            <a:avLst>
              <a:gd name="adj" fmla="val 375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40080" y="48006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5120640"/>
            <a:ext cx="6217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T1, T2 and STIR are physically different images. Measured on identical held-out slices, treating them separately wins on all three sequences.</a:t>
            </a:r>
            <a:endParaRPr lang="en-US" sz="1500" dirty="0"/>
          </a:p>
        </p:txBody>
      </p:sp>
      <p:pic>
        <p:nvPicPr>
          <p:cNvPr id="8" name="Image 0" descr="C:\Users\DELL\Downloads\handoff\handoff\images\cmp_modalit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0" y="1691640"/>
            <a:ext cx="4480560" cy="44805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Enhancement &amp; ROI Segmentation  ·  MedhaDrishti · Yugma TechFest 2.0 · JNNCE Shivamogga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1185855" y="65379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0963379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&amp; VALIDATION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Fast, small, and validated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2148840" cy="1417320"/>
          </a:xfrm>
          <a:prstGeom prst="roundRect">
            <a:avLst>
              <a:gd name="adj" fmla="val 3871"/>
            </a:avLst>
          </a:prstGeom>
          <a:solidFill>
            <a:srgbClr val="E8F1F2"/>
          </a:solidFill>
          <a:ln w="12700">
            <a:solidFill>
              <a:srgbClr val="D6DE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182880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 ms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2514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image (GPU latency)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0" y="1691640"/>
            <a:ext cx="2148840" cy="1417320"/>
          </a:xfrm>
          <a:prstGeom prst="roundRect">
            <a:avLst>
              <a:gd name="adj" fmla="val 3871"/>
            </a:avLst>
          </a:prstGeom>
          <a:solidFill>
            <a:srgbClr val="E8F1F2"/>
          </a:solidFill>
          <a:ln w="12700">
            <a:solidFill>
              <a:srgbClr val="D6DE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880360" y="182880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236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880360" y="2514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/ second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0" y="1691640"/>
            <a:ext cx="2148840" cy="1417320"/>
          </a:xfrm>
          <a:prstGeom prst="roundRect">
            <a:avLst>
              <a:gd name="adj" fmla="val 3871"/>
            </a:avLst>
          </a:prstGeom>
          <a:solidFill>
            <a:srgbClr val="E8F1F2"/>
          </a:solidFill>
          <a:ln w="12700">
            <a:solidFill>
              <a:srgbClr val="D6DE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166360" y="182880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7.77 M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166360" y="2514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· 31 MB model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2148840" cy="1417320"/>
          </a:xfrm>
          <a:prstGeom prst="roundRect">
            <a:avLst>
              <a:gd name="adj" fmla="val 3871"/>
            </a:avLst>
          </a:prstGeom>
          <a:solidFill>
            <a:srgbClr val="E8F1F2"/>
          </a:solidFill>
          <a:ln w="12700">
            <a:solidFill>
              <a:srgbClr val="D6DE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94360" y="338328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390 MB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94360" y="40690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GPU memory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0" y="3246120"/>
            <a:ext cx="2148840" cy="1417320"/>
          </a:xfrm>
          <a:prstGeom prst="roundRect">
            <a:avLst>
              <a:gd name="adj" fmla="val 3871"/>
            </a:avLst>
          </a:prstGeom>
          <a:solidFill>
            <a:srgbClr val="E8F1F2"/>
          </a:solidFill>
          <a:ln w="12700">
            <a:solidFill>
              <a:srgbClr val="D6DE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880360" y="338328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 / 98 %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880360" y="40690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utilisation (enh / seg)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0" y="3246120"/>
            <a:ext cx="2148840" cy="1417320"/>
          </a:xfrm>
          <a:prstGeom prst="roundRect">
            <a:avLst>
              <a:gd name="adj" fmla="val 3871"/>
            </a:avLst>
          </a:prstGeom>
          <a:solidFill>
            <a:srgbClr val="E8F1F2"/>
          </a:solidFill>
          <a:ln w="12700">
            <a:solidFill>
              <a:srgbClr val="D6DE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166360" y="338328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±0.04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166360" y="40690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3-fold cross-validation spread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937760"/>
            <a:ext cx="6858000" cy="1188720"/>
          </a:xfrm>
          <a:prstGeom prst="roundRect">
            <a:avLst>
              <a:gd name="adj" fmla="val 4615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40080" y="502920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Convergence: epoch 25, overfitting gap ≈ 0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" y="544068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±0.04 spread across folds is the important number — it means the result is consistent, not a lucky split.</a:t>
            </a:r>
            <a:endParaRPr lang="en-US" sz="1400" dirty="0"/>
          </a:p>
        </p:txBody>
      </p:sp>
      <p:pic>
        <p:nvPicPr>
          <p:cNvPr id="25" name="Image 0" descr="C:\Users\DELL\Downloads\handoff\handoff\images\segmentation_curv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98080" y="1691640"/>
            <a:ext cx="4297680" cy="443484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Enhancement &amp; ROI Segmentation  ·  MedhaDrishti · Yugma TechFest 2.0 · JNNCE Shivamogga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1185855" y="65379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434276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measured claims — and four deliberate limits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1600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0.76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2148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tumour Dice (0.84 enhancing)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150876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474720" y="1600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0.903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474720" y="2148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 restoration — every classical method scores below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94360" y="2971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0.0043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94360" y="35204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level (down from 0.0068) — the only stage that removes noise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37560" y="288036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474720" y="2971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 ms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474720" y="35204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image · 236 img/s · 7.77 M parameters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1508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deliberately do NOT claim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11900" y="2006600"/>
            <a:ext cx="164592" cy="16459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578600" y="1905000"/>
            <a:ext cx="520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credit for SPINEPS's accuracy — it is a pretrained model, labelled as such throughout.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311900" y="2717800"/>
            <a:ext cx="164592" cy="16459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578600" y="2616200"/>
            <a:ext cx="520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tumour accuracy on unlabelled data — only on BraTS, where truth exists.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311900" y="3429000"/>
            <a:ext cx="164592" cy="16459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578600" y="3327400"/>
            <a:ext cx="520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spine anomaly detector failed validation (AUC 0.27) — we report that, not a fake result.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5212080"/>
            <a:ext cx="11292840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C9E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40080" y="521208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 smaller honest number beats a large invented one. Every figure comes from a script in the repository, and can be re-run."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9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welcome.</a:t>
            </a:r>
            <a:endParaRPr lang="en-US" sz="1400" dirty="0"/>
          </a:p>
        </p:txBody>
      </p:sp>
      <p:sp>
        <p:nvSpPr>
          <p:cNvPr id="40" name="Item 40"/>
          <p:cNvSpPr/>
          <p:nvPr/>
        </p:nvSpPr>
        <p:spPr>
          <a:xfrm>
            <a:off x="6311900" y="4140200"/>
            <a:ext cx="164592" cy="16459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Item 41"/>
          <p:cNvSpPr/>
          <p:nvPr/>
        </p:nvSpPr>
        <p:spPr>
          <a:xfrm>
            <a:off x="6578600" y="4038600"/>
            <a:ext cx="520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corrects noise; it does not invent anatomy (SSIM &gt; 0.9 is the evidence).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917223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F2A5B6A-015E-407E-B42B-EF2228C2251E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e54caa5a-50cf-414d-980b-bf1d260db65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2134</Words>
  <Application>Microsoft Office PowerPoint</Application>
  <PresentationFormat>Widescreen</PresentationFormat>
  <Paragraphs>309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JNNCE Shivamogga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MRI Enhancement and ROI Segmentation</dc:title>
  <dc:subject>PptxGenJS Presentation</dc:subject>
  <dc:creator>MedhaDrishti National AI Hackathon Team</dc:creator>
  <cp:lastModifiedBy>Mohammed Jazeel</cp:lastModifiedBy>
  <cp:revision>3</cp:revision>
  <dcterms:created xsi:type="dcterms:W3CDTF">2026-07-25T02:37:57Z</dcterms:created>
  <dcterms:modified xsi:type="dcterms:W3CDTF">2026-07-25T07:07:18Z</dcterms:modified>
</cp:coreProperties>
</file>